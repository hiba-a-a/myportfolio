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954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Brief greeting. 'Good morning/afternoon. We are Team Cocktail, and today we'll present our findings on improving walkability in Education City.' (~10 seconds, transition to Aazim)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AAZIM (~80 seconds):
'Let's start with the problem. Education City was designed as a walkable campus with a 24-station tram system. However, summer temperatures exceed 45°C with humidity of 40-60%, making outdoor walking unbearable.
As a result, 57% of the EC population drives private vehicles even for short distances, and only 17% walk. This leads to higher carbon emissions, less physical activity, and weaker community ties.
This directly contradicts Qatar's National Vision 2030, which calls for 25% emissions reduction, 60-70% pedestrian shade, and sustainable transport. So addressing walkability isn't just a campus issue — it's a national priority.'
Transition: 'Now Hiba will walk us through the first two solutions we evaluated.'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HIBA (~80 seconds):
'We evaluated four solutions in two categories: nature-based and engineered cooling.
First, the Park and Plant initiative — this is Qatar Foundation's existing tree-planting program using native Sidra and Ghaf trees. Research shows 75% canopy coverage provides optimal airflow and cooling. A Dubai university study found that similar planting reduced warm/hot hours by over 75%. The program has community backing through Adopt a Tree and Green Lungs. The main limitation is that trees need 3-5 years to mature.
Second, cool pavement coatings — reflective layers that lower surface temperatures by up to 5°C. They're cheap and easy to apply, but here's the catch: they can actually increase the heat walkers feel at body level by 2-3°C, and they degrade over time.'
Transition: 'Kel will now cover the remaining two solutions.'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KEL (~80 seconds):
'The third solution is climate-controlled enclosed walkways — essentially air-conditioned corridors. These offer the best thermal comfort and Qatar already has examples like the Mall of Qatar pedestrian bridge. However, the energy demands are enormous and directly contradict sustainability goals. EC's spread-out layout makes campus-wide enclosure impractical and extremely expensive.
Fourth, solar-powered misting systems — nozzles that spray fine mist to cool the air, powered by solar panels. Research shows shade plus misting can reduce the thermal index by over 12°C. But there's a critical issue: misting loses effectiveness when humidity exceeds 60-70%, and Qatar's summers already reach 40-60% humidity. Coverage is also limited to existing canopy areas.'
Transition: 'Khaldoun will now present how we compared these solutions.'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KHALDOUN (~80 seconds):
'To compare solutions objectively, we used a weighted decision matrix with four criteria aligned to QNV 2030.
Thermal comfort and sustainability each received 30% weight as the most critical factors. Coverage and scalability got 25%, and feasibility 15%.
As you can see, Park and Plant scored the highest at 4.00 out of 5. It scored 5 in sustainability — trees sequester carbon and improve biodiversity. It scored 4 in both coverage and feasibility since the program is already operational with established budgets.
Solar misting came second at 3.60, strong in thermal comfort but limited by humidity issues. Enclosed walkways scored lowest at 2.45 — great thermal comfort but terrible sustainability and feasibility.
The matrix clearly shows Park and Plant as the most balanced solution.'
Transition: 'Finally, Youssef will present our recommendation and implementation plan.'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YOUSSEF (~80 seconds):
'Based on our analysis, we recommend expanding Qatar Foundation's Park and Plant initiative. Here's why it stands out:
First, it's already operational — no new programs need to be created. QF has staffing, budgets, and community engagement in place.
Second, it's the most sustainable option — trees sequester carbon, clean the air, and provide compounding benefits as they grow.
Third, unlike misting, it works in any humidity level.
Our implementation plan has three phases: start with high-traffic corridors near tram stations, then expand to housing and parking areas, and finally achieve the national target of 60-70% shade coverage by year 6.
This directly aligns with Qatar National Vision 2030's pillars of environmental sustainability and human development.
The main limitation is time to maturity — but existing canopy structures provide interim shade during the growth period. Thank you —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Stand together for Q&amp;A. Any member should be ready to answer any question about any part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42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FB996"/>
          </a:solidFill>
          <a:ln/>
        </p:spPr>
        <p:txBody>
          <a:bodyPr/>
          <a:lstStyle/>
          <a:p>
            <a:endParaRPr lang="en-US"/>
          </a:p>
        </p:txBody>
      </p:sp>
      <p:sp>
        <p:nvSpPr>
          <p:cNvPr id="3" name="Text 1"/>
          <p:cNvSpPr/>
          <p:nvPr/>
        </p:nvSpPr>
        <p:spPr>
          <a:xfrm>
            <a:off x="731520" y="365760"/>
            <a:ext cx="7680960" cy="365760"/>
          </a:xfrm>
          <a:prstGeom prst="rect">
            <a:avLst/>
          </a:prstGeom>
          <a:noFill/>
          <a:ln/>
        </p:spPr>
        <p:txBody>
          <a:bodyPr wrap="square" rtlCol="0" anchor="ctr"/>
          <a:lstStyle/>
          <a:p>
            <a:pPr marL="0" indent="0" algn="ctr">
              <a:buNone/>
            </a:pPr>
            <a:r>
              <a:rPr lang="en-US" sz="1100" kern="0" spc="300" dirty="0">
                <a:solidFill>
                  <a:srgbClr val="8FB996"/>
                </a:solidFill>
                <a:latin typeface="Calibri" pitchFamily="34" charset="0"/>
                <a:ea typeface="Calibri" pitchFamily="34" charset="-122"/>
                <a:cs typeface="Calibri" pitchFamily="34" charset="-120"/>
              </a:rPr>
              <a:t>ENGL 220  |  SPRING 2026  |  DR. NAQAA ABBAS</a:t>
            </a:r>
            <a:endParaRPr lang="en-US" sz="1100" dirty="0"/>
          </a:p>
        </p:txBody>
      </p:sp>
      <p:pic>
        <p:nvPicPr>
          <p:cNvPr id="4" name="Image 0" descr="preencoded.png"/>
          <p:cNvPicPr>
            <a:picLocks noChangeAspect="1"/>
          </p:cNvPicPr>
          <p:nvPr/>
        </p:nvPicPr>
        <p:blipFill>
          <a:blip r:embed="rId3"/>
          <a:stretch>
            <a:fillRect/>
          </a:stretch>
        </p:blipFill>
        <p:spPr>
          <a:xfrm>
            <a:off x="4114800" y="1005840"/>
            <a:ext cx="914400" cy="914400"/>
          </a:xfrm>
          <a:prstGeom prst="rect">
            <a:avLst/>
          </a:prstGeom>
        </p:spPr>
      </p:pic>
      <p:sp>
        <p:nvSpPr>
          <p:cNvPr id="5" name="Text 2"/>
          <p:cNvSpPr/>
          <p:nvPr/>
        </p:nvSpPr>
        <p:spPr>
          <a:xfrm>
            <a:off x="731520" y="2011680"/>
            <a:ext cx="7680960" cy="1371600"/>
          </a:xfrm>
          <a:prstGeom prst="rect">
            <a:avLst/>
          </a:prstGeom>
          <a:noFill/>
          <a:ln/>
        </p:spPr>
        <p:txBody>
          <a:bodyPr wrap="square" rtlCol="0" anchor="ctr"/>
          <a:lstStyle/>
          <a:p>
            <a:pPr marL="0" indent="0" algn="ctr">
              <a:lnSpc>
                <a:spcPct val="110000"/>
              </a:lnSpc>
              <a:buNone/>
            </a:pPr>
            <a:r>
              <a:rPr lang="en-US" sz="4000" b="1" dirty="0">
                <a:solidFill>
                  <a:srgbClr val="FFFFFF"/>
                </a:solidFill>
                <a:latin typeface="Georgia" pitchFamily="34" charset="0"/>
                <a:ea typeface="Georgia" pitchFamily="34" charset="-122"/>
                <a:cs typeface="Georgia" pitchFamily="34" charset="-120"/>
              </a:rPr>
              <a:t>WALKABILITY IN</a:t>
            </a:r>
            <a:endParaRPr lang="en-US" sz="4000" dirty="0"/>
          </a:p>
          <a:p>
            <a:pPr marL="0" indent="0" algn="ctr">
              <a:lnSpc>
                <a:spcPct val="110000"/>
              </a:lnSpc>
              <a:buNone/>
            </a:pPr>
            <a:r>
              <a:rPr lang="en-US" sz="4000" b="1" dirty="0">
                <a:solidFill>
                  <a:srgbClr val="FFFFFF"/>
                </a:solidFill>
                <a:latin typeface="Georgia" pitchFamily="34" charset="0"/>
                <a:ea typeface="Georgia" pitchFamily="34" charset="-122"/>
                <a:cs typeface="Georgia" pitchFamily="34" charset="-120"/>
              </a:rPr>
              <a:t>EDUCATION CITY</a:t>
            </a:r>
            <a:endParaRPr lang="en-US" sz="4000" dirty="0"/>
          </a:p>
        </p:txBody>
      </p:sp>
      <p:sp>
        <p:nvSpPr>
          <p:cNvPr id="6" name="Text 3"/>
          <p:cNvSpPr/>
          <p:nvPr/>
        </p:nvSpPr>
        <p:spPr>
          <a:xfrm>
            <a:off x="1371600" y="3474720"/>
            <a:ext cx="6400800" cy="457200"/>
          </a:xfrm>
          <a:prstGeom prst="rect">
            <a:avLst/>
          </a:prstGeom>
          <a:noFill/>
          <a:ln/>
        </p:spPr>
        <p:txBody>
          <a:bodyPr wrap="square" rtlCol="0" anchor="ctr"/>
          <a:lstStyle/>
          <a:p>
            <a:pPr marL="0" indent="0" algn="ctr">
              <a:buNone/>
            </a:pPr>
            <a:r>
              <a:rPr lang="en-US" sz="1400" i="1" dirty="0">
                <a:solidFill>
                  <a:srgbClr val="E8E0D0"/>
                </a:solidFill>
                <a:latin typeface="Calibri" pitchFamily="34" charset="0"/>
                <a:ea typeface="Calibri" pitchFamily="34" charset="-122"/>
                <a:cs typeface="Calibri" pitchFamily="34" charset="-120"/>
              </a:rPr>
              <a:t>Addressing Pedestrian Comfort Through Sustainable Solutions</a:t>
            </a:r>
            <a:endParaRPr lang="en-US" sz="1400" dirty="0"/>
          </a:p>
        </p:txBody>
      </p:sp>
      <p:sp>
        <p:nvSpPr>
          <p:cNvPr id="7" name="Shape 4"/>
          <p:cNvSpPr/>
          <p:nvPr/>
        </p:nvSpPr>
        <p:spPr>
          <a:xfrm>
            <a:off x="2743200" y="4114800"/>
            <a:ext cx="3657600" cy="0"/>
          </a:xfrm>
          <a:prstGeom prst="line">
            <a:avLst/>
          </a:prstGeom>
          <a:noFill/>
          <a:ln w="12700">
            <a:solidFill>
              <a:srgbClr val="8FB996"/>
            </a:solidFill>
            <a:prstDash val="solid"/>
          </a:ln>
        </p:spPr>
        <p:txBody>
          <a:bodyPr/>
          <a:lstStyle/>
          <a:p>
            <a:endParaRPr lang="en-US"/>
          </a:p>
        </p:txBody>
      </p:sp>
      <p:sp>
        <p:nvSpPr>
          <p:cNvPr id="8" name="Text 5"/>
          <p:cNvSpPr/>
          <p:nvPr/>
        </p:nvSpPr>
        <p:spPr>
          <a:xfrm>
            <a:off x="731520" y="4297680"/>
            <a:ext cx="7680960" cy="365760"/>
          </a:xfrm>
          <a:prstGeom prst="rect">
            <a:avLst/>
          </a:prstGeom>
          <a:noFill/>
          <a:ln/>
        </p:spPr>
        <p:txBody>
          <a:bodyPr wrap="square" rtlCol="0" anchor="ctr"/>
          <a:lstStyle/>
          <a:p>
            <a:pPr marL="0" indent="0" algn="ctr">
              <a:buNone/>
            </a:pPr>
            <a:r>
              <a:rPr lang="en-US" sz="1400" b="1" dirty="0">
                <a:solidFill>
                  <a:srgbClr val="8FB996"/>
                </a:solidFill>
                <a:latin typeface="Georgia" pitchFamily="34" charset="0"/>
                <a:ea typeface="Georgia" pitchFamily="34" charset="-122"/>
                <a:cs typeface="Georgia" pitchFamily="34" charset="-120"/>
              </a:rPr>
              <a:t>Team Cocktail</a:t>
            </a:r>
            <a:endParaRPr lang="en-US" sz="1400" dirty="0"/>
          </a:p>
        </p:txBody>
      </p:sp>
      <p:sp>
        <p:nvSpPr>
          <p:cNvPr id="9" name="Text 6"/>
          <p:cNvSpPr/>
          <p:nvPr/>
        </p:nvSpPr>
        <p:spPr>
          <a:xfrm>
            <a:off x="457200" y="4617720"/>
            <a:ext cx="8229600" cy="320040"/>
          </a:xfrm>
          <a:prstGeom prst="rect">
            <a:avLst/>
          </a:prstGeom>
          <a:noFill/>
          <a:ln/>
        </p:spPr>
        <p:txBody>
          <a:bodyPr wrap="square" rtlCol="0" anchor="ctr"/>
          <a:lstStyle/>
          <a:p>
            <a:pPr marL="0" indent="0" algn="ctr">
              <a:buNone/>
            </a:pPr>
            <a:r>
              <a:rPr lang="en-US" sz="1100" dirty="0">
                <a:solidFill>
                  <a:srgbClr val="E8E0D0"/>
                </a:solidFill>
                <a:latin typeface="Calibri" pitchFamily="34" charset="0"/>
                <a:ea typeface="Calibri" pitchFamily="34" charset="-122"/>
                <a:cs typeface="Calibri" pitchFamily="34" charset="-120"/>
              </a:rPr>
              <a:t>Aazim Rafeeq  •  Hiba Syed  •  Kel Doliente  •  Khaldoun Saadeddine  •  Youssef Abou Ali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4A2E"/>
          </a:solidFill>
          <a:ln/>
        </p:spPr>
        <p:txBody>
          <a:bodyPr/>
          <a:lstStyle/>
          <a:p>
            <a:endParaRPr lang="en-US"/>
          </a:p>
        </p:txBody>
      </p:sp>
      <p:sp>
        <p:nvSpPr>
          <p:cNvPr id="3" name="Text 1"/>
          <p:cNvSpPr/>
          <p:nvPr/>
        </p:nvSpPr>
        <p:spPr>
          <a:xfrm>
            <a:off x="731520" y="137160"/>
            <a:ext cx="7680960" cy="54864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THE PROBLEM: WALKING IN THE HEAT</a:t>
            </a:r>
            <a:endParaRPr lang="en-US" sz="2200" dirty="0"/>
          </a:p>
        </p:txBody>
      </p:sp>
      <p:sp>
        <p:nvSpPr>
          <p:cNvPr id="4" name="Shape 2"/>
          <p:cNvSpPr/>
          <p:nvPr/>
        </p:nvSpPr>
        <p:spPr>
          <a:xfrm>
            <a:off x="548640" y="1097280"/>
            <a:ext cx="3840480" cy="960120"/>
          </a:xfrm>
          <a:prstGeom prst="rect">
            <a:avLst/>
          </a:prstGeom>
          <a:solidFill>
            <a:srgbClr val="4A7C59"/>
          </a:solidFill>
          <a:ln/>
          <a:effectLst>
            <a:outerShdw blurRad="50800" dist="25400" dir="8100000" algn="bl" rotWithShape="0">
              <a:srgbClr val="000000">
                <a:alpha val="12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77240" y="1325880"/>
            <a:ext cx="457200" cy="457200"/>
          </a:xfrm>
          <a:prstGeom prst="rect">
            <a:avLst/>
          </a:prstGeom>
        </p:spPr>
      </p:pic>
      <p:sp>
        <p:nvSpPr>
          <p:cNvPr id="6" name="Text 3"/>
          <p:cNvSpPr/>
          <p:nvPr/>
        </p:nvSpPr>
        <p:spPr>
          <a:xfrm>
            <a:off x="1417320" y="1188720"/>
            <a:ext cx="1371600" cy="5029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40°C+</a:t>
            </a:r>
            <a:endParaRPr lang="en-US" sz="3200" dirty="0"/>
          </a:p>
        </p:txBody>
      </p:sp>
      <p:sp>
        <p:nvSpPr>
          <p:cNvPr id="7" name="Text 4"/>
          <p:cNvSpPr/>
          <p:nvPr/>
        </p:nvSpPr>
        <p:spPr>
          <a:xfrm>
            <a:off x="1417320" y="1645920"/>
            <a:ext cx="2743200" cy="320040"/>
          </a:xfrm>
          <a:prstGeom prst="rect">
            <a:avLst/>
          </a:prstGeom>
          <a:noFill/>
          <a:ln/>
        </p:spPr>
        <p:txBody>
          <a:bodyPr wrap="square" lIns="0" tIns="0" rIns="0" bIns="0" rtlCol="0" anchor="ctr"/>
          <a:lstStyle/>
          <a:p>
            <a:pPr marL="0" indent="0">
              <a:buNone/>
            </a:pPr>
            <a:r>
              <a:rPr lang="en-US" sz="1300" dirty="0">
                <a:solidFill>
                  <a:srgbClr val="D4E6D4"/>
                </a:solidFill>
                <a:latin typeface="Calibri" pitchFamily="34" charset="0"/>
                <a:ea typeface="Calibri" pitchFamily="34" charset="-122"/>
                <a:cs typeface="Calibri" pitchFamily="34" charset="-120"/>
              </a:rPr>
              <a:t>Summer temperatures</a:t>
            </a:r>
            <a:endParaRPr lang="en-US" sz="1300" dirty="0"/>
          </a:p>
        </p:txBody>
      </p:sp>
      <p:sp>
        <p:nvSpPr>
          <p:cNvPr id="8" name="Shape 5"/>
          <p:cNvSpPr/>
          <p:nvPr/>
        </p:nvSpPr>
        <p:spPr>
          <a:xfrm>
            <a:off x="548640" y="2240280"/>
            <a:ext cx="3840480" cy="960120"/>
          </a:xfrm>
          <a:prstGeom prst="rect">
            <a:avLst/>
          </a:prstGeom>
          <a:solidFill>
            <a:srgbClr val="2C4A2E"/>
          </a:solidFill>
          <a:ln/>
          <a:effectLst>
            <a:outerShdw blurRad="50800" dist="25400" dir="8100000" algn="bl" rotWithShape="0">
              <a:srgbClr val="000000">
                <a:alpha val="12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777240" y="2468880"/>
            <a:ext cx="457200" cy="457200"/>
          </a:xfrm>
          <a:prstGeom prst="rect">
            <a:avLst/>
          </a:prstGeom>
        </p:spPr>
      </p:pic>
      <p:sp>
        <p:nvSpPr>
          <p:cNvPr id="10" name="Text 6"/>
          <p:cNvSpPr/>
          <p:nvPr/>
        </p:nvSpPr>
        <p:spPr>
          <a:xfrm>
            <a:off x="1417320" y="2331720"/>
            <a:ext cx="1371600" cy="5029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57%</a:t>
            </a:r>
            <a:endParaRPr lang="en-US" sz="3200" dirty="0"/>
          </a:p>
        </p:txBody>
      </p:sp>
      <p:sp>
        <p:nvSpPr>
          <p:cNvPr id="11" name="Text 7"/>
          <p:cNvSpPr/>
          <p:nvPr/>
        </p:nvSpPr>
        <p:spPr>
          <a:xfrm>
            <a:off x="1417320" y="2788920"/>
            <a:ext cx="2743200" cy="320040"/>
          </a:xfrm>
          <a:prstGeom prst="rect">
            <a:avLst/>
          </a:prstGeom>
          <a:noFill/>
          <a:ln/>
        </p:spPr>
        <p:txBody>
          <a:bodyPr wrap="square" lIns="0" tIns="0" rIns="0" bIns="0" rtlCol="0" anchor="ctr"/>
          <a:lstStyle/>
          <a:p>
            <a:pPr marL="0" indent="0">
              <a:buNone/>
            </a:pPr>
            <a:r>
              <a:rPr lang="en-US" sz="1300" dirty="0">
                <a:solidFill>
                  <a:srgbClr val="D4E6D4"/>
                </a:solidFill>
                <a:latin typeface="Calibri" pitchFamily="34" charset="0"/>
                <a:ea typeface="Calibri" pitchFamily="34" charset="-122"/>
                <a:cs typeface="Calibri" pitchFamily="34" charset="-120"/>
              </a:rPr>
              <a:t>Drive private vehicles</a:t>
            </a:r>
            <a:endParaRPr lang="en-US" sz="1300" dirty="0"/>
          </a:p>
        </p:txBody>
      </p:sp>
      <p:sp>
        <p:nvSpPr>
          <p:cNvPr id="12" name="Shape 8"/>
          <p:cNvSpPr/>
          <p:nvPr/>
        </p:nvSpPr>
        <p:spPr>
          <a:xfrm>
            <a:off x="548640" y="3383280"/>
            <a:ext cx="3840480" cy="960120"/>
          </a:xfrm>
          <a:prstGeom prst="rect">
            <a:avLst/>
          </a:prstGeom>
          <a:solidFill>
            <a:srgbClr val="4A7C59"/>
          </a:solidFill>
          <a:ln/>
          <a:effectLst>
            <a:outerShdw blurRad="50800" dist="25400" dir="8100000" algn="bl" rotWithShape="0">
              <a:srgbClr val="000000">
                <a:alpha val="12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777240" y="3611880"/>
            <a:ext cx="457200" cy="457200"/>
          </a:xfrm>
          <a:prstGeom prst="rect">
            <a:avLst/>
          </a:prstGeom>
        </p:spPr>
      </p:pic>
      <p:sp>
        <p:nvSpPr>
          <p:cNvPr id="14" name="Text 9"/>
          <p:cNvSpPr/>
          <p:nvPr/>
        </p:nvSpPr>
        <p:spPr>
          <a:xfrm>
            <a:off x="1417320" y="3474720"/>
            <a:ext cx="1371600" cy="5029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17%</a:t>
            </a:r>
            <a:endParaRPr lang="en-US" sz="3200" dirty="0"/>
          </a:p>
        </p:txBody>
      </p:sp>
      <p:sp>
        <p:nvSpPr>
          <p:cNvPr id="15" name="Text 10"/>
          <p:cNvSpPr/>
          <p:nvPr/>
        </p:nvSpPr>
        <p:spPr>
          <a:xfrm>
            <a:off x="1417320" y="3931920"/>
            <a:ext cx="2743200" cy="320040"/>
          </a:xfrm>
          <a:prstGeom prst="rect">
            <a:avLst/>
          </a:prstGeom>
          <a:noFill/>
          <a:ln/>
        </p:spPr>
        <p:txBody>
          <a:bodyPr wrap="square" lIns="0" tIns="0" rIns="0" bIns="0" rtlCol="0" anchor="ctr"/>
          <a:lstStyle/>
          <a:p>
            <a:pPr marL="0" indent="0">
              <a:buNone/>
            </a:pPr>
            <a:r>
              <a:rPr lang="en-US" sz="1300" dirty="0">
                <a:solidFill>
                  <a:srgbClr val="D4E6D4"/>
                </a:solidFill>
                <a:latin typeface="Calibri" pitchFamily="34" charset="0"/>
                <a:ea typeface="Calibri" pitchFamily="34" charset="-122"/>
                <a:cs typeface="Calibri" pitchFamily="34" charset="-120"/>
              </a:rPr>
              <a:t>Walk between facilities</a:t>
            </a:r>
            <a:endParaRPr lang="en-US" sz="1300" dirty="0"/>
          </a:p>
        </p:txBody>
      </p:sp>
      <p:sp>
        <p:nvSpPr>
          <p:cNvPr id="16" name="Shape 11"/>
          <p:cNvSpPr/>
          <p:nvPr/>
        </p:nvSpPr>
        <p:spPr>
          <a:xfrm>
            <a:off x="4754880" y="1097280"/>
            <a:ext cx="3931920" cy="32461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7" name="Text 12"/>
          <p:cNvSpPr/>
          <p:nvPr/>
        </p:nvSpPr>
        <p:spPr>
          <a:xfrm>
            <a:off x="5029200" y="1143000"/>
            <a:ext cx="3383280" cy="457200"/>
          </a:xfrm>
          <a:prstGeom prst="rect">
            <a:avLst/>
          </a:prstGeom>
          <a:noFill/>
          <a:ln/>
        </p:spPr>
        <p:txBody>
          <a:bodyPr wrap="square" lIns="0" tIns="0" rIns="0" bIns="0" rtlCol="0" anchor="ctr"/>
          <a:lstStyle/>
          <a:p>
            <a:pPr marL="0" indent="0">
              <a:buNone/>
            </a:pPr>
            <a:r>
              <a:rPr lang="en-US" sz="1600" b="1" dirty="0">
                <a:solidFill>
                  <a:srgbClr val="2C4A2E"/>
                </a:solidFill>
                <a:latin typeface="Georgia" pitchFamily="34" charset="0"/>
                <a:ea typeface="Georgia" pitchFamily="34" charset="-122"/>
                <a:cs typeface="Georgia" pitchFamily="34" charset="-120"/>
              </a:rPr>
              <a:t>Why It Matters</a:t>
            </a:r>
            <a:endParaRPr lang="en-US" sz="1600" dirty="0"/>
          </a:p>
        </p:txBody>
      </p:sp>
      <p:sp>
        <p:nvSpPr>
          <p:cNvPr id="18" name="Text 13"/>
          <p:cNvSpPr/>
          <p:nvPr/>
        </p:nvSpPr>
        <p:spPr>
          <a:xfrm>
            <a:off x="5029200" y="2240280"/>
            <a:ext cx="3383280" cy="19659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00" dirty="0">
                <a:solidFill>
                  <a:srgbClr val="1E1E1E"/>
                </a:solidFill>
                <a:latin typeface="Calibri" pitchFamily="34" charset="0"/>
                <a:ea typeface="Calibri" pitchFamily="34" charset="-122"/>
                <a:cs typeface="Calibri" pitchFamily="34" charset="-120"/>
              </a:rPr>
              <a:t>EC spans 12 km² with 24 tram stations, yet extreme heat and unshaded walkways make walking unbearable.</a:t>
            </a:r>
            <a:endParaRPr lang="en-US" sz="1200" dirty="0"/>
          </a:p>
          <a:p>
            <a:pPr marL="342900" indent="-342900">
              <a:lnSpc>
                <a:spcPct val="120000"/>
              </a:lnSpc>
              <a:spcAft>
                <a:spcPts val="800"/>
              </a:spcAft>
              <a:buSzPct val="100000"/>
              <a:buChar char="•"/>
            </a:pPr>
            <a:r>
              <a:rPr lang="en-US" sz="1200" dirty="0">
                <a:solidFill>
                  <a:srgbClr val="1E1E1E"/>
                </a:solidFill>
                <a:latin typeface="Calibri" pitchFamily="34" charset="0"/>
                <a:ea typeface="Calibri" pitchFamily="34" charset="-122"/>
                <a:cs typeface="Calibri" pitchFamily="34" charset="-120"/>
              </a:rPr>
              <a:t>Increased carbon emissions, reduced physical activity.</a:t>
            </a:r>
          </a:p>
          <a:p>
            <a:pPr marL="342900" indent="-342900">
              <a:lnSpc>
                <a:spcPct val="120000"/>
              </a:lnSpc>
              <a:spcAft>
                <a:spcPts val="800"/>
              </a:spcAft>
              <a:buSzPct val="100000"/>
              <a:buChar char="•"/>
            </a:pPr>
            <a:r>
              <a:rPr lang="en-US" sz="1200" dirty="0">
                <a:solidFill>
                  <a:srgbClr val="1E1E1E"/>
                </a:solidFill>
                <a:latin typeface="Calibri" pitchFamily="34" charset="0"/>
                <a:ea typeface="Calibri" pitchFamily="34" charset="-122"/>
                <a:cs typeface="Calibri" pitchFamily="34" charset="-120"/>
              </a:rPr>
              <a:t>Students, faculty members, staff, and visitors are most affected.</a:t>
            </a:r>
          </a:p>
          <a:p>
            <a:pPr marL="342900" indent="-342900">
              <a:lnSpc>
                <a:spcPct val="120000"/>
              </a:lnSpc>
              <a:spcAft>
                <a:spcPts val="800"/>
              </a:spcAft>
              <a:buSzPct val="100000"/>
              <a:buChar char="•"/>
            </a:pPr>
            <a:r>
              <a:rPr lang="en-US" sz="1200" dirty="0">
                <a:solidFill>
                  <a:srgbClr val="1E1E1E"/>
                </a:solidFill>
                <a:latin typeface="Calibri" pitchFamily="34" charset="0"/>
                <a:ea typeface="Calibri" pitchFamily="34" charset="-122"/>
                <a:cs typeface="Calibri" pitchFamily="34" charset="-120"/>
              </a:rPr>
              <a:t>Contradicts with QNV 2030 targets </a:t>
            </a:r>
          </a:p>
          <a:p>
            <a:endParaRPr lang="en-US" dirty="0"/>
          </a:p>
          <a:p>
            <a:r>
              <a:rPr lang="en-US" sz="1100" dirty="0"/>
              <a:t>,</a:t>
            </a:r>
            <a:endParaRPr lang="en-US" sz="1100" dirty="0">
              <a:solidFill>
                <a:srgbClr val="1E1E1E"/>
              </a:solidFill>
              <a:latin typeface="Calibri" pitchFamily="34" charset="0"/>
              <a:ea typeface="Calibri" pitchFamily="34" charset="-122"/>
              <a:cs typeface="Calibri" pitchFamily="34" charset="-120"/>
            </a:endParaRPr>
          </a:p>
          <a:p>
            <a:pPr marL="342900" indent="-342900">
              <a:lnSpc>
                <a:spcPct val="120000"/>
              </a:lnSpc>
              <a:spcAft>
                <a:spcPts val="800"/>
              </a:spcAft>
              <a:buSzPct val="100000"/>
              <a:buChar char="•"/>
            </a:pPr>
            <a:endParaRPr lang="en-US" sz="1200" dirty="0">
              <a:solidFill>
                <a:srgbClr val="1E1E1E"/>
              </a:solidFill>
              <a:latin typeface="Calibri" pitchFamily="34" charset="0"/>
              <a:ea typeface="Calibri" pitchFamily="34" charset="-122"/>
              <a:cs typeface="Calibri" pitchFamily="34" charset="-120"/>
            </a:endParaRPr>
          </a:p>
          <a:p>
            <a:pPr>
              <a:lnSpc>
                <a:spcPct val="120000"/>
              </a:lnSpc>
              <a:buSzPct val="100000"/>
            </a:pPr>
            <a:endParaRPr lang="en-US" sz="1200" dirty="0"/>
          </a:p>
        </p:txBody>
      </p:sp>
      <p:sp>
        <p:nvSpPr>
          <p:cNvPr id="19" name="Shape 14"/>
          <p:cNvSpPr/>
          <p:nvPr/>
        </p:nvSpPr>
        <p:spPr>
          <a:xfrm>
            <a:off x="548640" y="4297680"/>
            <a:ext cx="8138160" cy="640080"/>
          </a:xfrm>
          <a:prstGeom prst="rect">
            <a:avLst/>
          </a:prstGeom>
          <a:solidFill>
            <a:srgbClr val="D4E6D4"/>
          </a:solidFill>
          <a:ln/>
        </p:spPr>
        <p:txBody>
          <a:bodyPr/>
          <a:lstStyle/>
          <a:p>
            <a:endParaRPr lang="en-US"/>
          </a:p>
        </p:txBody>
      </p:sp>
      <p:sp>
        <p:nvSpPr>
          <p:cNvPr id="20" name="Text 15"/>
          <p:cNvSpPr/>
          <p:nvPr/>
        </p:nvSpPr>
        <p:spPr>
          <a:xfrm>
            <a:off x="731520" y="4370832"/>
            <a:ext cx="7772400" cy="502920"/>
          </a:xfrm>
          <a:prstGeom prst="rect">
            <a:avLst/>
          </a:prstGeom>
          <a:noFill/>
          <a:ln/>
        </p:spPr>
        <p:txBody>
          <a:bodyPr wrap="square" rtlCol="0" anchor="ctr"/>
          <a:lstStyle/>
          <a:p>
            <a:pPr marL="0" indent="0" algn="ctr">
              <a:buNone/>
            </a:pPr>
            <a:r>
              <a:rPr lang="en-US" sz="1200" b="1" dirty="0">
                <a:solidFill>
                  <a:srgbClr val="2C4A2E"/>
                </a:solidFill>
                <a:latin typeface="Calibri" pitchFamily="34" charset="0"/>
                <a:ea typeface="Calibri" pitchFamily="34" charset="-122"/>
                <a:cs typeface="Calibri" pitchFamily="34" charset="-120"/>
              </a:rPr>
              <a:t>QNV 2030 targets: 25% emissions reduction  •  60–70% pedestrian shade  •  Sustainable transport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4A2E"/>
          </a:solidFill>
          <a:ln/>
        </p:spPr>
        <p:txBody>
          <a:bodyPr/>
          <a:lstStyle/>
          <a:p>
            <a:endParaRPr lang="en-US"/>
          </a:p>
        </p:txBody>
      </p:sp>
      <p:sp>
        <p:nvSpPr>
          <p:cNvPr id="3" name="Text 1"/>
          <p:cNvSpPr/>
          <p:nvPr/>
        </p:nvSpPr>
        <p:spPr>
          <a:xfrm>
            <a:off x="731520" y="137160"/>
            <a:ext cx="7680960" cy="54864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SOLUTIONS EVALUATED (1 OF 2)</a:t>
            </a:r>
            <a:endParaRPr lang="en-US" sz="2200" dirty="0"/>
          </a:p>
        </p:txBody>
      </p:sp>
      <p:sp>
        <p:nvSpPr>
          <p:cNvPr id="4" name="Shape 2"/>
          <p:cNvSpPr/>
          <p:nvPr/>
        </p:nvSpPr>
        <p:spPr>
          <a:xfrm>
            <a:off x="457200" y="1051560"/>
            <a:ext cx="3931920" cy="3749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457200" y="1051560"/>
            <a:ext cx="3931920" cy="502920"/>
          </a:xfrm>
          <a:prstGeom prst="rect">
            <a:avLst/>
          </a:prstGeom>
          <a:solidFill>
            <a:srgbClr val="4A7C5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115568"/>
            <a:ext cx="347472" cy="347472"/>
          </a:xfrm>
          <a:prstGeom prst="rect">
            <a:avLst/>
          </a:prstGeom>
        </p:spPr>
      </p:pic>
      <p:sp>
        <p:nvSpPr>
          <p:cNvPr id="7" name="Text 4"/>
          <p:cNvSpPr/>
          <p:nvPr/>
        </p:nvSpPr>
        <p:spPr>
          <a:xfrm>
            <a:off x="1051560" y="1069848"/>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1. Park and Plant Initiative</a:t>
            </a:r>
            <a:endParaRPr lang="en-US" sz="1400" dirty="0"/>
          </a:p>
        </p:txBody>
      </p:sp>
      <p:sp>
        <p:nvSpPr>
          <p:cNvPr id="8" name="Text 5"/>
          <p:cNvSpPr/>
          <p:nvPr/>
        </p:nvSpPr>
        <p:spPr>
          <a:xfrm>
            <a:off x="685800" y="1691640"/>
            <a:ext cx="3474720" cy="2926080"/>
          </a:xfrm>
          <a:prstGeom prst="rect">
            <a:avLst/>
          </a:prstGeom>
          <a:noFill/>
          <a:ln/>
        </p:spPr>
        <p:txBody>
          <a:bodyPr wrap="square" lIns="0" tIns="0" rIns="0" bIns="0" rtlCol="0" anchor="ctr"/>
          <a:lstStyle/>
          <a:p>
            <a:pPr marL="0" indent="0">
              <a:lnSpc>
                <a:spcPct val="115000"/>
              </a:lnSpc>
              <a:spcAft>
                <a:spcPts val="600"/>
              </a:spcAft>
              <a:buNone/>
            </a:pPr>
            <a:r>
              <a:rPr lang="en-US" sz="1150" b="1" dirty="0">
                <a:solidFill>
                  <a:srgbClr val="1E1E1E"/>
                </a:solidFill>
                <a:latin typeface="Calibri" pitchFamily="34" charset="0"/>
                <a:ea typeface="Calibri" pitchFamily="34" charset="-122"/>
                <a:cs typeface="Calibri" pitchFamily="34" charset="-120"/>
              </a:rPr>
              <a:t>Native Sidra &amp; Ghaf trees along walkways to create shaded corridors</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75% canopy shading optimizes airflow &amp; cooling</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Started with 2,500 trees → target 20,000</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Dubai study: warm/hot hours dropped from 1,291 to &lt;300</a:t>
            </a:r>
            <a:endParaRPr lang="en-US" sz="1150" dirty="0"/>
          </a:p>
          <a:p>
            <a:pPr marL="0" indent="0">
              <a:lnSpc>
                <a:spcPct val="115000"/>
              </a:lnSpc>
              <a:spcAft>
                <a:spcPts val="800"/>
              </a:spcAft>
              <a:buNone/>
            </a:pPr>
            <a:r>
              <a:rPr lang="en-US" sz="1150" dirty="0">
                <a:solidFill>
                  <a:srgbClr val="1E1E1E"/>
                </a:solidFill>
                <a:latin typeface="Calibri" pitchFamily="34" charset="0"/>
                <a:ea typeface="Calibri" pitchFamily="34" charset="-122"/>
                <a:cs typeface="Calibri" pitchFamily="34" charset="-120"/>
              </a:rPr>
              <a:t>• Community programs: 'Adopt a Tree', 'Green Lungs'</a:t>
            </a:r>
            <a:endParaRPr lang="en-US" sz="1150" dirty="0"/>
          </a:p>
          <a:p>
            <a:pPr marL="0" indent="0">
              <a:lnSpc>
                <a:spcPct val="115000"/>
              </a:lnSpc>
              <a:buNone/>
            </a:pPr>
            <a:r>
              <a:rPr lang="en-US" sz="1150" b="1" dirty="0">
                <a:solidFill>
                  <a:srgbClr val="1E1E1E"/>
                </a:solidFill>
                <a:latin typeface="Calibri" pitchFamily="34" charset="0"/>
                <a:ea typeface="Calibri" pitchFamily="34" charset="-122"/>
                <a:cs typeface="Calibri" pitchFamily="34" charset="-120"/>
              </a:rPr>
              <a:t>Limitation: </a:t>
            </a:r>
            <a:r>
              <a:rPr lang="en-US" sz="1150" dirty="0">
                <a:solidFill>
                  <a:srgbClr val="1E1E1E"/>
                </a:solidFill>
                <a:latin typeface="Calibri" pitchFamily="34" charset="0"/>
                <a:ea typeface="Calibri" pitchFamily="34" charset="-122"/>
                <a:cs typeface="Calibri" pitchFamily="34" charset="-120"/>
              </a:rPr>
              <a:t>3-5 years to full canopy maturity</a:t>
            </a:r>
            <a:endParaRPr lang="en-US" sz="1150" dirty="0"/>
          </a:p>
        </p:txBody>
      </p:sp>
      <p:sp>
        <p:nvSpPr>
          <p:cNvPr id="9" name="Shape 6"/>
          <p:cNvSpPr/>
          <p:nvPr/>
        </p:nvSpPr>
        <p:spPr>
          <a:xfrm>
            <a:off x="4754880" y="1051560"/>
            <a:ext cx="3931920" cy="3749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7"/>
          <p:cNvSpPr/>
          <p:nvPr/>
        </p:nvSpPr>
        <p:spPr>
          <a:xfrm>
            <a:off x="4754880" y="1051560"/>
            <a:ext cx="3931920" cy="502920"/>
          </a:xfrm>
          <a:prstGeom prst="rect">
            <a:avLst/>
          </a:prstGeom>
          <a:solidFill>
            <a:srgbClr val="4A7C59"/>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115568"/>
            <a:ext cx="347472" cy="347472"/>
          </a:xfrm>
          <a:prstGeom prst="rect">
            <a:avLst/>
          </a:prstGeom>
        </p:spPr>
      </p:pic>
      <p:sp>
        <p:nvSpPr>
          <p:cNvPr id="12" name="Text 8"/>
          <p:cNvSpPr/>
          <p:nvPr/>
        </p:nvSpPr>
        <p:spPr>
          <a:xfrm>
            <a:off x="5349240" y="1069848"/>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2. Cool Pavement Coatings</a:t>
            </a:r>
            <a:endParaRPr lang="en-US" sz="1400" dirty="0"/>
          </a:p>
        </p:txBody>
      </p:sp>
      <p:sp>
        <p:nvSpPr>
          <p:cNvPr id="13" name="Text 9"/>
          <p:cNvSpPr/>
          <p:nvPr/>
        </p:nvSpPr>
        <p:spPr>
          <a:xfrm>
            <a:off x="4983480" y="1691640"/>
            <a:ext cx="3474720" cy="2926080"/>
          </a:xfrm>
          <a:prstGeom prst="rect">
            <a:avLst/>
          </a:prstGeom>
          <a:noFill/>
          <a:ln/>
        </p:spPr>
        <p:txBody>
          <a:bodyPr wrap="square" lIns="0" tIns="0" rIns="0" bIns="0" rtlCol="0" anchor="ctr"/>
          <a:lstStyle/>
          <a:p>
            <a:pPr marL="0" indent="0">
              <a:lnSpc>
                <a:spcPct val="115000"/>
              </a:lnSpc>
              <a:spcAft>
                <a:spcPts val="600"/>
              </a:spcAft>
              <a:buNone/>
            </a:pPr>
            <a:r>
              <a:rPr lang="en-US" sz="1150" b="1" dirty="0">
                <a:solidFill>
                  <a:srgbClr val="1E1E1E"/>
                </a:solidFill>
                <a:latin typeface="Calibri" pitchFamily="34" charset="0"/>
                <a:ea typeface="Calibri" pitchFamily="34" charset="-122"/>
                <a:cs typeface="Calibri" pitchFamily="34" charset="-120"/>
              </a:rPr>
              <a:t>Reflective layers on walkways to reduce heat absorption</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Surface temps reduced by 2.6–4.9°C</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Low cost, minimal construction required</a:t>
            </a:r>
            <a:endParaRPr lang="en-US" sz="1150" dirty="0"/>
          </a:p>
          <a:p>
            <a:pPr marL="0" indent="0">
              <a:lnSpc>
                <a:spcPct val="115000"/>
              </a:lnSpc>
              <a:spcAft>
                <a:spcPts val="800"/>
              </a:spcAft>
              <a:buNone/>
            </a:pPr>
            <a:r>
              <a:rPr lang="en-US" sz="1150" dirty="0">
                <a:solidFill>
                  <a:srgbClr val="1E1E1E"/>
                </a:solidFill>
                <a:latin typeface="Calibri" pitchFamily="34" charset="0"/>
                <a:ea typeface="Calibri" pitchFamily="34" charset="-122"/>
                <a:cs typeface="Calibri" pitchFamily="34" charset="-120"/>
              </a:rPr>
              <a:t>• Easy campus-wide application</a:t>
            </a:r>
            <a:endParaRPr lang="en-US" sz="1150" dirty="0"/>
          </a:p>
          <a:p>
            <a:pPr marL="0" indent="0">
              <a:lnSpc>
                <a:spcPct val="115000"/>
              </a:lnSpc>
              <a:buNone/>
            </a:pPr>
            <a:r>
              <a:rPr lang="en-US" sz="1150" b="1" dirty="0">
                <a:solidFill>
                  <a:srgbClr val="1E1E1E"/>
                </a:solidFill>
                <a:latin typeface="Calibri" pitchFamily="34" charset="0"/>
                <a:ea typeface="Calibri" pitchFamily="34" charset="-122"/>
                <a:cs typeface="Calibri" pitchFamily="34" charset="-120"/>
              </a:rPr>
              <a:t>Limitation: </a:t>
            </a:r>
            <a:r>
              <a:rPr lang="en-US" sz="1150" dirty="0">
                <a:solidFill>
                  <a:srgbClr val="1E1E1E"/>
                </a:solidFill>
                <a:latin typeface="Calibri" pitchFamily="34" charset="0"/>
                <a:ea typeface="Calibri" pitchFamily="34" charset="-122"/>
                <a:cs typeface="Calibri" pitchFamily="34" charset="-120"/>
              </a:rPr>
              <a:t>May increase radiant temperature at pedestrian level by 2–3°C, making walkers feel hotter. Degrades with UV/dust.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4A2E"/>
          </a:solidFill>
          <a:ln/>
        </p:spPr>
        <p:txBody>
          <a:bodyPr/>
          <a:lstStyle/>
          <a:p>
            <a:endParaRPr lang="en-US"/>
          </a:p>
        </p:txBody>
      </p:sp>
      <p:sp>
        <p:nvSpPr>
          <p:cNvPr id="3" name="Text 1"/>
          <p:cNvSpPr/>
          <p:nvPr/>
        </p:nvSpPr>
        <p:spPr>
          <a:xfrm>
            <a:off x="731520" y="137160"/>
            <a:ext cx="7680960" cy="54864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SOLUTIONS EVALUATED (2 OF 2)</a:t>
            </a:r>
            <a:endParaRPr lang="en-US" sz="2200" dirty="0"/>
          </a:p>
        </p:txBody>
      </p:sp>
      <p:sp>
        <p:nvSpPr>
          <p:cNvPr id="4" name="Shape 2"/>
          <p:cNvSpPr/>
          <p:nvPr/>
        </p:nvSpPr>
        <p:spPr>
          <a:xfrm>
            <a:off x="457200" y="1051560"/>
            <a:ext cx="3931920" cy="3749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457200" y="1051560"/>
            <a:ext cx="3931920" cy="502920"/>
          </a:xfrm>
          <a:prstGeom prst="rect">
            <a:avLst/>
          </a:prstGeom>
          <a:solidFill>
            <a:srgbClr val="4A7C5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115568"/>
            <a:ext cx="347472" cy="347472"/>
          </a:xfrm>
          <a:prstGeom prst="rect">
            <a:avLst/>
          </a:prstGeom>
        </p:spPr>
      </p:pic>
      <p:sp>
        <p:nvSpPr>
          <p:cNvPr id="7" name="Text 4"/>
          <p:cNvSpPr/>
          <p:nvPr/>
        </p:nvSpPr>
        <p:spPr>
          <a:xfrm>
            <a:off x="1051560" y="1069848"/>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3. Enclosed Walkways</a:t>
            </a:r>
            <a:endParaRPr lang="en-US" sz="1400" dirty="0"/>
          </a:p>
        </p:txBody>
      </p:sp>
      <p:sp>
        <p:nvSpPr>
          <p:cNvPr id="8" name="Text 5"/>
          <p:cNvSpPr/>
          <p:nvPr/>
        </p:nvSpPr>
        <p:spPr>
          <a:xfrm>
            <a:off x="685800" y="1691640"/>
            <a:ext cx="3474720" cy="2926080"/>
          </a:xfrm>
          <a:prstGeom prst="rect">
            <a:avLst/>
          </a:prstGeom>
          <a:noFill/>
          <a:ln/>
        </p:spPr>
        <p:txBody>
          <a:bodyPr wrap="square" lIns="0" tIns="0" rIns="0" bIns="0" rtlCol="0" anchor="ctr"/>
          <a:lstStyle/>
          <a:p>
            <a:pPr marL="0" indent="0">
              <a:lnSpc>
                <a:spcPct val="115000"/>
              </a:lnSpc>
              <a:spcAft>
                <a:spcPts val="600"/>
              </a:spcAft>
              <a:buNone/>
            </a:pPr>
            <a:r>
              <a:rPr lang="en-US" sz="1150" b="1" dirty="0">
                <a:solidFill>
                  <a:srgbClr val="1E1E1E"/>
                </a:solidFill>
                <a:latin typeface="Calibri" pitchFamily="34" charset="0"/>
                <a:ea typeface="Calibri" pitchFamily="34" charset="-122"/>
                <a:cs typeface="Calibri" pitchFamily="34" charset="-120"/>
              </a:rPr>
              <a:t>Air-conditioned enclosed corridors for full climate control</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Best thermal comfort of all solutions</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Qatar precedents: Industrial Area bridge, Mall of Qatar connection</a:t>
            </a:r>
            <a:endParaRPr lang="en-US" sz="1150" dirty="0"/>
          </a:p>
          <a:p>
            <a:pPr marL="0" indent="0">
              <a:lnSpc>
                <a:spcPct val="115000"/>
              </a:lnSpc>
              <a:spcAft>
                <a:spcPts val="800"/>
              </a:spcAft>
              <a:buNone/>
            </a:pPr>
            <a:r>
              <a:rPr lang="en-US" sz="1150" dirty="0">
                <a:solidFill>
                  <a:srgbClr val="1E1E1E"/>
                </a:solidFill>
                <a:latin typeface="Calibri" pitchFamily="34" charset="0"/>
                <a:ea typeface="Calibri" pitchFamily="34" charset="-122"/>
                <a:cs typeface="Calibri" pitchFamily="34" charset="-120"/>
              </a:rPr>
              <a:t>• Protects vulnerable groups (children, elderly)</a:t>
            </a:r>
            <a:endParaRPr lang="en-US" sz="1150" dirty="0"/>
          </a:p>
          <a:p>
            <a:pPr marL="0" indent="0">
              <a:lnSpc>
                <a:spcPct val="115000"/>
              </a:lnSpc>
              <a:buNone/>
            </a:pPr>
            <a:r>
              <a:rPr lang="en-US" sz="1150" b="1" dirty="0">
                <a:solidFill>
                  <a:srgbClr val="1E1E1E"/>
                </a:solidFill>
                <a:latin typeface="Calibri" pitchFamily="34" charset="0"/>
                <a:ea typeface="Calibri" pitchFamily="34" charset="-122"/>
                <a:cs typeface="Calibri" pitchFamily="34" charset="-120"/>
              </a:rPr>
              <a:t>Limitation: </a:t>
            </a:r>
            <a:r>
              <a:rPr lang="en-US" sz="1150" dirty="0">
                <a:solidFill>
                  <a:srgbClr val="1E1E1E"/>
                </a:solidFill>
                <a:latin typeface="Calibri" pitchFamily="34" charset="0"/>
                <a:ea typeface="Calibri" pitchFamily="34" charset="-122"/>
                <a:cs typeface="Calibri" pitchFamily="34" charset="-120"/>
              </a:rPr>
              <a:t>Massive energy demands contradict sustainability goals. High cost, impractical for EC's spread-out layout. Reduces open social spaces.</a:t>
            </a:r>
            <a:endParaRPr lang="en-US" sz="1150" dirty="0"/>
          </a:p>
        </p:txBody>
      </p:sp>
      <p:sp>
        <p:nvSpPr>
          <p:cNvPr id="9" name="Shape 6"/>
          <p:cNvSpPr/>
          <p:nvPr/>
        </p:nvSpPr>
        <p:spPr>
          <a:xfrm>
            <a:off x="4754880" y="1051560"/>
            <a:ext cx="3931920" cy="3749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7"/>
          <p:cNvSpPr/>
          <p:nvPr/>
        </p:nvSpPr>
        <p:spPr>
          <a:xfrm>
            <a:off x="4754880" y="1051560"/>
            <a:ext cx="3931920" cy="502920"/>
          </a:xfrm>
          <a:prstGeom prst="rect">
            <a:avLst/>
          </a:prstGeom>
          <a:solidFill>
            <a:srgbClr val="4A7C59"/>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115568"/>
            <a:ext cx="347472" cy="347472"/>
          </a:xfrm>
          <a:prstGeom prst="rect">
            <a:avLst/>
          </a:prstGeom>
        </p:spPr>
      </p:pic>
      <p:sp>
        <p:nvSpPr>
          <p:cNvPr id="12" name="Text 8"/>
          <p:cNvSpPr/>
          <p:nvPr/>
        </p:nvSpPr>
        <p:spPr>
          <a:xfrm>
            <a:off x="5349240" y="1069848"/>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4. Solar-Powered Misting</a:t>
            </a:r>
            <a:endParaRPr lang="en-US" sz="1400" dirty="0"/>
          </a:p>
        </p:txBody>
      </p:sp>
      <p:sp>
        <p:nvSpPr>
          <p:cNvPr id="13" name="Text 9"/>
          <p:cNvSpPr/>
          <p:nvPr/>
        </p:nvSpPr>
        <p:spPr>
          <a:xfrm>
            <a:off x="4983480" y="1691640"/>
            <a:ext cx="3474720" cy="2926080"/>
          </a:xfrm>
          <a:prstGeom prst="rect">
            <a:avLst/>
          </a:prstGeom>
          <a:noFill/>
          <a:ln/>
        </p:spPr>
        <p:txBody>
          <a:bodyPr wrap="square" lIns="0" tIns="0" rIns="0" bIns="0" rtlCol="0" anchor="ctr"/>
          <a:lstStyle/>
          <a:p>
            <a:pPr marL="0" indent="0">
              <a:lnSpc>
                <a:spcPct val="115000"/>
              </a:lnSpc>
              <a:spcAft>
                <a:spcPts val="600"/>
              </a:spcAft>
              <a:buNone/>
            </a:pPr>
            <a:r>
              <a:rPr lang="en-US" sz="1150" b="1" dirty="0">
                <a:solidFill>
                  <a:srgbClr val="1E1E1E"/>
                </a:solidFill>
                <a:latin typeface="Calibri" pitchFamily="34" charset="0"/>
                <a:ea typeface="Calibri" pitchFamily="34" charset="-122"/>
                <a:cs typeface="Calibri" pitchFamily="34" charset="-120"/>
              </a:rPr>
              <a:t>High-pressure misting nozzles powered by solar panels</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Shade + misting reduces thermal index by 12.3°C</a:t>
            </a:r>
            <a:endParaRPr lang="en-US" sz="1150" dirty="0"/>
          </a:p>
          <a:p>
            <a:pPr marL="0" indent="0">
              <a:lnSpc>
                <a:spcPct val="115000"/>
              </a:lnSpc>
              <a:spcAft>
                <a:spcPts val="400"/>
              </a:spcAft>
              <a:buNone/>
            </a:pPr>
            <a:r>
              <a:rPr lang="en-US" sz="1150" dirty="0">
                <a:solidFill>
                  <a:srgbClr val="1E1E1E"/>
                </a:solidFill>
                <a:latin typeface="Calibri" pitchFamily="34" charset="0"/>
                <a:ea typeface="Calibri" pitchFamily="34" charset="-122"/>
                <a:cs typeface="Calibri" pitchFamily="34" charset="-120"/>
              </a:rPr>
              <a:t>• Proven at Expo 2020 Dubai &amp; Saudi Arabia</a:t>
            </a:r>
            <a:endParaRPr lang="en-US" sz="1150" dirty="0"/>
          </a:p>
          <a:p>
            <a:pPr marL="0" indent="0">
              <a:lnSpc>
                <a:spcPct val="115000"/>
              </a:lnSpc>
              <a:spcAft>
                <a:spcPts val="800"/>
              </a:spcAft>
              <a:buNone/>
            </a:pPr>
            <a:r>
              <a:rPr lang="en-US" sz="1150" dirty="0">
                <a:solidFill>
                  <a:srgbClr val="1E1E1E"/>
                </a:solidFill>
                <a:latin typeface="Calibri" pitchFamily="34" charset="0"/>
                <a:ea typeface="Calibri" pitchFamily="34" charset="-122"/>
                <a:cs typeface="Calibri" pitchFamily="34" charset="-120"/>
              </a:rPr>
              <a:t>• Smart sensors activate only when needed</a:t>
            </a:r>
            <a:endParaRPr lang="en-US" sz="1150" dirty="0"/>
          </a:p>
          <a:p>
            <a:pPr marL="0" indent="0">
              <a:lnSpc>
                <a:spcPct val="115000"/>
              </a:lnSpc>
              <a:buNone/>
            </a:pPr>
            <a:r>
              <a:rPr lang="en-US" sz="1150" b="1" dirty="0">
                <a:solidFill>
                  <a:srgbClr val="1E1E1E"/>
                </a:solidFill>
                <a:latin typeface="Calibri" pitchFamily="34" charset="0"/>
                <a:ea typeface="Calibri" pitchFamily="34" charset="-122"/>
                <a:cs typeface="Calibri" pitchFamily="34" charset="-120"/>
              </a:rPr>
              <a:t>Limitation: </a:t>
            </a:r>
            <a:r>
              <a:rPr lang="en-US" sz="1150" dirty="0">
                <a:solidFill>
                  <a:srgbClr val="1E1E1E"/>
                </a:solidFill>
                <a:latin typeface="Calibri" pitchFamily="34" charset="0"/>
                <a:ea typeface="Calibri" pitchFamily="34" charset="-122"/>
                <a:cs typeface="Calibri" pitchFamily="34" charset="-120"/>
              </a:rPr>
              <a:t>Effectiveness drops at humidity &gt;60-70%. Qatar's summer humidity reaches 40-60%. Limited to existing canopy areas. Nozzle maintenance issues.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4A2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48640" y="182880"/>
            <a:ext cx="411480" cy="411480"/>
          </a:xfrm>
          <a:prstGeom prst="rect">
            <a:avLst/>
          </a:prstGeom>
        </p:spPr>
      </p:pic>
      <p:sp>
        <p:nvSpPr>
          <p:cNvPr id="4" name="Text 1"/>
          <p:cNvSpPr/>
          <p:nvPr/>
        </p:nvSpPr>
        <p:spPr>
          <a:xfrm>
            <a:off x="1051560" y="137160"/>
            <a:ext cx="7315200" cy="54864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WEIGHTED DECISION MATRIX</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2834640"/>
        </p:xfrm>
        <a:graphic>
          <a:graphicData uri="http://schemas.openxmlformats.org/drawingml/2006/table">
            <a:tbl>
              <a:tblPr/>
              <a:tblGrid>
                <a:gridCol w="15544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50292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Criteria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Park &amp; Plant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Cool Pavement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Enclosed Walkways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Solar Misting</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EC Canopies</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(Reference)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A2E"/>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1E1E1E"/>
                          </a:solidFill>
                          <a:latin typeface="Calibri" pitchFamily="34" charset="0"/>
                          <a:ea typeface="Calibri" pitchFamily="34" charset="-122"/>
                          <a:cs typeface="Calibri" pitchFamily="34" charset="-120"/>
                        </a:rPr>
                        <a:t>Thermal Comfort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b="1" dirty="0">
                          <a:solidFill>
                            <a:srgbClr val="2C4A2E"/>
                          </a:solidFill>
                          <a:latin typeface="Calibri" pitchFamily="34" charset="0"/>
                          <a:ea typeface="Calibri" pitchFamily="34" charset="-122"/>
                          <a:cs typeface="Calibri" pitchFamily="34" charset="-120"/>
                        </a:rPr>
                        <a:t>3 (0.90)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1 (0.30)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5 (1.50)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4 (1.20)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(0.90)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1E1E1E"/>
                          </a:solidFill>
                          <a:latin typeface="Calibri" pitchFamily="34" charset="0"/>
                          <a:ea typeface="Calibri" pitchFamily="34" charset="-122"/>
                          <a:cs typeface="Calibri" pitchFamily="34" charset="-120"/>
                        </a:rPr>
                        <a:t>Sustainability</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b="1" dirty="0">
                          <a:solidFill>
                            <a:srgbClr val="2C4A2E"/>
                          </a:solidFill>
                          <a:latin typeface="Calibri" pitchFamily="34" charset="0"/>
                          <a:ea typeface="Calibri" pitchFamily="34" charset="-122"/>
                          <a:cs typeface="Calibri" pitchFamily="34" charset="-120"/>
                        </a:rPr>
                        <a:t>5 (1.50)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2 (0.60)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1 (0.30)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4 (1.20)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(0.90)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1E1E1E"/>
                          </a:solidFill>
                          <a:latin typeface="Calibri" pitchFamily="34" charset="0"/>
                          <a:ea typeface="Calibri" pitchFamily="34" charset="-122"/>
                          <a:cs typeface="Calibri" pitchFamily="34" charset="-120"/>
                        </a:rPr>
                        <a:t>Coverage &amp; Scalability</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b="1" dirty="0">
                          <a:solidFill>
                            <a:srgbClr val="2C4A2E"/>
                          </a:solidFill>
                          <a:latin typeface="Calibri" pitchFamily="34" charset="0"/>
                          <a:ea typeface="Calibri" pitchFamily="34" charset="-122"/>
                          <a:cs typeface="Calibri" pitchFamily="34" charset="-120"/>
                        </a:rPr>
                        <a:t>4 (1.00)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5 (1.25)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2 (0.50)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(0.75)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(0.75)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1E1E1E"/>
                          </a:solidFill>
                          <a:latin typeface="Calibri" pitchFamily="34" charset="0"/>
                          <a:ea typeface="Calibri" pitchFamily="34" charset="-122"/>
                          <a:cs typeface="Calibri" pitchFamily="34" charset="-120"/>
                        </a:rPr>
                        <a:t>Feasibility</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b="1" dirty="0">
                          <a:solidFill>
                            <a:srgbClr val="2C4A2E"/>
                          </a:solidFill>
                          <a:latin typeface="Calibri" pitchFamily="34" charset="0"/>
                          <a:ea typeface="Calibri" pitchFamily="34" charset="-122"/>
                          <a:cs typeface="Calibri" pitchFamily="34" charset="-120"/>
                        </a:rPr>
                        <a:t>4 (0.60)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4 (0.60)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1 (0.15)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(0.45)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 (0.45)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000" b="1" dirty="0">
                          <a:solidFill>
                            <a:srgbClr val="1E1E1E"/>
                          </a:solidFill>
                          <a:latin typeface="Calibri" pitchFamily="34" charset="0"/>
                          <a:ea typeface="Calibri" pitchFamily="34" charset="-122"/>
                          <a:cs typeface="Calibri" pitchFamily="34" charset="-120"/>
                        </a:rPr>
                        <a:t>TOTAL SCORE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r>
                        <a:rPr lang="en-US" sz="1300" b="1" dirty="0">
                          <a:solidFill>
                            <a:srgbClr val="2C4A2E"/>
                          </a:solidFill>
                          <a:latin typeface="Georgia" pitchFamily="34" charset="0"/>
                          <a:ea typeface="Georgia" pitchFamily="34" charset="-122"/>
                          <a:cs typeface="Georgia" pitchFamily="34" charset="-120"/>
                        </a:rPr>
                        <a:t>4.00</a:t>
                      </a:r>
                      <a:endParaRPr lang="en-US" sz="1300" dirty="0">
                        <a:latin typeface="Georgia" charset="0"/>
                        <a:ea typeface="Georgia" charset="0"/>
                        <a:cs typeface="Georgia"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2.75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2.45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tc>
                  <a:txBody>
                    <a:bodyPr/>
                    <a:lstStyle/>
                    <a:p>
                      <a:pPr marL="0" indent="0" algn="ctr">
                        <a:buNone/>
                      </a:pPr>
                      <a:r>
                        <a:rPr lang="en-US" sz="1000" dirty="0">
                          <a:solidFill>
                            <a:srgbClr val="1E1E1E"/>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6D4"/>
                    </a:solidFill>
                  </a:tcPr>
                </a:tc>
                <a:extLst>
                  <a:ext uri="{0D108BD9-81ED-4DB2-BD59-A6C34878D82A}">
                    <a16:rowId xmlns:a16="http://schemas.microsoft.com/office/drawing/2014/main" val="10005"/>
                  </a:ext>
                </a:extLst>
              </a:tr>
            </a:tbl>
          </a:graphicData>
        </a:graphic>
      </p:graphicFrame>
      <p:sp>
        <p:nvSpPr>
          <p:cNvPr id="5" name="Shape 2"/>
          <p:cNvSpPr/>
          <p:nvPr/>
        </p:nvSpPr>
        <p:spPr>
          <a:xfrm>
            <a:off x="457200" y="4114800"/>
            <a:ext cx="8229600" cy="777240"/>
          </a:xfrm>
          <a:prstGeom prst="rect">
            <a:avLst/>
          </a:prstGeom>
          <a:solidFill>
            <a:srgbClr val="4A7C59"/>
          </a:solidFill>
          <a:ln/>
          <a:effectLst>
            <a:outerShdw blurRad="50800" dist="25400" dir="8100000" algn="bl" rotWithShape="0">
              <a:srgbClr val="000000">
                <a:alpha val="12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731520" y="4233672"/>
            <a:ext cx="457200" cy="457200"/>
          </a:xfrm>
          <a:prstGeom prst="rect">
            <a:avLst/>
          </a:prstGeom>
        </p:spPr>
      </p:pic>
      <p:sp>
        <p:nvSpPr>
          <p:cNvPr id="8" name="Text 3"/>
          <p:cNvSpPr/>
          <p:nvPr/>
        </p:nvSpPr>
        <p:spPr>
          <a:xfrm>
            <a:off x="1371600" y="4160520"/>
            <a:ext cx="7132320" cy="7315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Park and Plant scores highest (4.00/5.0) — the most balanced and context-appropriate solution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4A2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48640" y="182880"/>
            <a:ext cx="411480" cy="411480"/>
          </a:xfrm>
          <a:prstGeom prst="rect">
            <a:avLst/>
          </a:prstGeom>
        </p:spPr>
      </p:pic>
      <p:sp>
        <p:nvSpPr>
          <p:cNvPr id="4" name="Text 1"/>
          <p:cNvSpPr/>
          <p:nvPr/>
        </p:nvSpPr>
        <p:spPr>
          <a:xfrm>
            <a:off x="1051560" y="137160"/>
            <a:ext cx="7772400" cy="548640"/>
          </a:xfrm>
          <a:prstGeom prst="rect">
            <a:avLst/>
          </a:prstGeom>
          <a:noFill/>
          <a:ln/>
        </p:spPr>
        <p:txBody>
          <a:bodyPr wrap="square"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RECOMMENDATION: EXPAND PARK AND PLANT</a:t>
            </a:r>
            <a:endParaRPr lang="en-US" sz="2000" dirty="0"/>
          </a:p>
        </p:txBody>
      </p:sp>
      <p:sp>
        <p:nvSpPr>
          <p:cNvPr id="5" name="Shape 2"/>
          <p:cNvSpPr/>
          <p:nvPr/>
        </p:nvSpPr>
        <p:spPr>
          <a:xfrm>
            <a:off x="457200" y="1051560"/>
            <a:ext cx="411480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pic>
        <p:nvPicPr>
          <p:cNvPr id="6" name="Image 1" descr="preencoded.png"/>
          <p:cNvPicPr>
            <a:picLocks noChangeAspect="1"/>
          </p:cNvPicPr>
          <p:nvPr/>
        </p:nvPicPr>
        <p:blipFill>
          <a:blip r:embed="rId4"/>
          <a:stretch>
            <a:fillRect/>
          </a:stretch>
        </p:blipFill>
        <p:spPr>
          <a:xfrm>
            <a:off x="640080" y="1216152"/>
            <a:ext cx="365760" cy="365760"/>
          </a:xfrm>
          <a:prstGeom prst="rect">
            <a:avLst/>
          </a:prstGeom>
        </p:spPr>
      </p:pic>
      <p:sp>
        <p:nvSpPr>
          <p:cNvPr id="7" name="Text 3"/>
          <p:cNvSpPr/>
          <p:nvPr/>
        </p:nvSpPr>
        <p:spPr>
          <a:xfrm>
            <a:off x="1143000" y="1097280"/>
            <a:ext cx="3200400" cy="320040"/>
          </a:xfrm>
          <a:prstGeom prst="rect">
            <a:avLst/>
          </a:prstGeom>
          <a:noFill/>
          <a:ln/>
        </p:spPr>
        <p:txBody>
          <a:bodyPr wrap="square" lIns="0" tIns="0" rIns="0" bIns="0" rtlCol="0" anchor="ctr"/>
          <a:lstStyle/>
          <a:p>
            <a:pPr marL="0" indent="0">
              <a:buNone/>
            </a:pPr>
            <a:r>
              <a:rPr lang="en-US" sz="1200" b="1" dirty="0">
                <a:solidFill>
                  <a:srgbClr val="2C4A2E"/>
                </a:solidFill>
                <a:latin typeface="Georgia" pitchFamily="34" charset="0"/>
                <a:ea typeface="Georgia" pitchFamily="34" charset="-122"/>
                <a:cs typeface="Georgia" pitchFamily="34" charset="-120"/>
              </a:rPr>
              <a:t>Already Operational</a:t>
            </a:r>
            <a:endParaRPr lang="en-US" sz="1200" dirty="0"/>
          </a:p>
        </p:txBody>
      </p:sp>
      <p:sp>
        <p:nvSpPr>
          <p:cNvPr id="8" name="Text 4"/>
          <p:cNvSpPr/>
          <p:nvPr/>
        </p:nvSpPr>
        <p:spPr>
          <a:xfrm>
            <a:off x="1143000" y="1399032"/>
            <a:ext cx="3200400" cy="32004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Existing QF program with staffing, budgets, and 2,500+ trees planted</a:t>
            </a:r>
            <a:endParaRPr lang="en-US" sz="1000" dirty="0"/>
          </a:p>
        </p:txBody>
      </p:sp>
      <p:sp>
        <p:nvSpPr>
          <p:cNvPr id="9" name="Shape 5"/>
          <p:cNvSpPr/>
          <p:nvPr/>
        </p:nvSpPr>
        <p:spPr>
          <a:xfrm>
            <a:off x="457200" y="1920240"/>
            <a:ext cx="411480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pic>
        <p:nvPicPr>
          <p:cNvPr id="10" name="Image 2" descr="preencoded.png"/>
          <p:cNvPicPr>
            <a:picLocks noChangeAspect="1"/>
          </p:cNvPicPr>
          <p:nvPr/>
        </p:nvPicPr>
        <p:blipFill>
          <a:blip r:embed="rId5"/>
          <a:stretch>
            <a:fillRect/>
          </a:stretch>
        </p:blipFill>
        <p:spPr>
          <a:xfrm>
            <a:off x="640080" y="2084832"/>
            <a:ext cx="365760" cy="365760"/>
          </a:xfrm>
          <a:prstGeom prst="rect">
            <a:avLst/>
          </a:prstGeom>
        </p:spPr>
      </p:pic>
      <p:sp>
        <p:nvSpPr>
          <p:cNvPr id="11" name="Text 6"/>
          <p:cNvSpPr/>
          <p:nvPr/>
        </p:nvSpPr>
        <p:spPr>
          <a:xfrm>
            <a:off x="1143000" y="1965960"/>
            <a:ext cx="3200400" cy="320040"/>
          </a:xfrm>
          <a:prstGeom prst="rect">
            <a:avLst/>
          </a:prstGeom>
          <a:noFill/>
          <a:ln/>
        </p:spPr>
        <p:txBody>
          <a:bodyPr wrap="square" lIns="0" tIns="0" rIns="0" bIns="0" rtlCol="0" anchor="ctr"/>
          <a:lstStyle/>
          <a:p>
            <a:pPr marL="0" indent="0">
              <a:buNone/>
            </a:pPr>
            <a:r>
              <a:rPr lang="en-US" sz="1200" b="1" dirty="0">
                <a:solidFill>
                  <a:srgbClr val="2C4A2E"/>
                </a:solidFill>
                <a:latin typeface="Georgia" pitchFamily="34" charset="0"/>
                <a:ea typeface="Georgia" pitchFamily="34" charset="-122"/>
                <a:cs typeface="Georgia" pitchFamily="34" charset="-120"/>
              </a:rPr>
              <a:t>Eco-Friendly</a:t>
            </a:r>
            <a:endParaRPr lang="en-US" sz="1200" dirty="0"/>
          </a:p>
        </p:txBody>
      </p:sp>
      <p:sp>
        <p:nvSpPr>
          <p:cNvPr id="12" name="Text 7"/>
          <p:cNvSpPr/>
          <p:nvPr/>
        </p:nvSpPr>
        <p:spPr>
          <a:xfrm>
            <a:off x="1143000" y="2267712"/>
            <a:ext cx="3200400" cy="32004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Sequesters carbon, cleans air, improves biodiversity</a:t>
            </a:r>
            <a:endParaRPr lang="en-US" sz="1000" dirty="0"/>
          </a:p>
        </p:txBody>
      </p:sp>
      <p:sp>
        <p:nvSpPr>
          <p:cNvPr id="13" name="Shape 8"/>
          <p:cNvSpPr/>
          <p:nvPr/>
        </p:nvSpPr>
        <p:spPr>
          <a:xfrm>
            <a:off x="457200" y="2788920"/>
            <a:ext cx="411480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640080" y="2953512"/>
            <a:ext cx="365760" cy="365760"/>
          </a:xfrm>
          <a:prstGeom prst="rect">
            <a:avLst/>
          </a:prstGeom>
        </p:spPr>
      </p:pic>
      <p:sp>
        <p:nvSpPr>
          <p:cNvPr id="15" name="Text 9"/>
          <p:cNvSpPr/>
          <p:nvPr/>
        </p:nvSpPr>
        <p:spPr>
          <a:xfrm>
            <a:off x="1143000" y="2834640"/>
            <a:ext cx="3200400" cy="320040"/>
          </a:xfrm>
          <a:prstGeom prst="rect">
            <a:avLst/>
          </a:prstGeom>
          <a:noFill/>
          <a:ln/>
        </p:spPr>
        <p:txBody>
          <a:bodyPr wrap="square" lIns="0" tIns="0" rIns="0" bIns="0" rtlCol="0" anchor="ctr"/>
          <a:lstStyle/>
          <a:p>
            <a:pPr marL="0" indent="0">
              <a:buNone/>
            </a:pPr>
            <a:r>
              <a:rPr lang="en-US" sz="1200" b="1" dirty="0">
                <a:solidFill>
                  <a:srgbClr val="2C4A2E"/>
                </a:solidFill>
                <a:latin typeface="Georgia" pitchFamily="34" charset="0"/>
                <a:ea typeface="Georgia" pitchFamily="34" charset="-122"/>
                <a:cs typeface="Georgia" pitchFamily="34" charset="-120"/>
              </a:rPr>
              <a:t>Compounding Impact</a:t>
            </a:r>
            <a:endParaRPr lang="en-US" sz="1200" dirty="0"/>
          </a:p>
        </p:txBody>
      </p:sp>
      <p:sp>
        <p:nvSpPr>
          <p:cNvPr id="16" name="Text 10"/>
          <p:cNvSpPr/>
          <p:nvPr/>
        </p:nvSpPr>
        <p:spPr>
          <a:xfrm>
            <a:off x="1143000" y="3136392"/>
            <a:ext cx="3200400" cy="32004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Shade and cooling grow stronger every year as trees mature</a:t>
            </a:r>
            <a:endParaRPr lang="en-US" sz="1000" dirty="0"/>
          </a:p>
        </p:txBody>
      </p:sp>
      <p:sp>
        <p:nvSpPr>
          <p:cNvPr id="17" name="Shape 11"/>
          <p:cNvSpPr/>
          <p:nvPr/>
        </p:nvSpPr>
        <p:spPr>
          <a:xfrm>
            <a:off x="457200" y="3657600"/>
            <a:ext cx="411480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pic>
        <p:nvPicPr>
          <p:cNvPr id="18" name="Image 4" descr="preencoded.png"/>
          <p:cNvPicPr>
            <a:picLocks noChangeAspect="1"/>
          </p:cNvPicPr>
          <p:nvPr/>
        </p:nvPicPr>
        <p:blipFill>
          <a:blip r:embed="rId4"/>
          <a:stretch>
            <a:fillRect/>
          </a:stretch>
        </p:blipFill>
        <p:spPr>
          <a:xfrm>
            <a:off x="640080" y="3822192"/>
            <a:ext cx="365760" cy="365760"/>
          </a:xfrm>
          <a:prstGeom prst="rect">
            <a:avLst/>
          </a:prstGeom>
        </p:spPr>
      </p:pic>
      <p:sp>
        <p:nvSpPr>
          <p:cNvPr id="19" name="Text 12"/>
          <p:cNvSpPr/>
          <p:nvPr/>
        </p:nvSpPr>
        <p:spPr>
          <a:xfrm>
            <a:off x="1143000" y="3703320"/>
            <a:ext cx="3200400" cy="320040"/>
          </a:xfrm>
          <a:prstGeom prst="rect">
            <a:avLst/>
          </a:prstGeom>
          <a:noFill/>
          <a:ln/>
        </p:spPr>
        <p:txBody>
          <a:bodyPr wrap="square" lIns="0" tIns="0" rIns="0" bIns="0" rtlCol="0" anchor="ctr"/>
          <a:lstStyle/>
          <a:p>
            <a:pPr marL="0" indent="0">
              <a:buNone/>
            </a:pPr>
            <a:r>
              <a:rPr lang="en-US" sz="1200" b="1" dirty="0">
                <a:solidFill>
                  <a:srgbClr val="2C4A2E"/>
                </a:solidFill>
                <a:latin typeface="Georgia" pitchFamily="34" charset="0"/>
                <a:ea typeface="Georgia" pitchFamily="34" charset="-122"/>
                <a:cs typeface="Georgia" pitchFamily="34" charset="-120"/>
              </a:rPr>
              <a:t>Climate-Proof</a:t>
            </a:r>
            <a:endParaRPr lang="en-US" sz="1200" dirty="0"/>
          </a:p>
        </p:txBody>
      </p:sp>
      <p:sp>
        <p:nvSpPr>
          <p:cNvPr id="20" name="Text 13"/>
          <p:cNvSpPr/>
          <p:nvPr/>
        </p:nvSpPr>
        <p:spPr>
          <a:xfrm>
            <a:off x="1143000" y="4005072"/>
            <a:ext cx="3200400" cy="32004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Effective in any humidity — unlike misting systems</a:t>
            </a:r>
            <a:endParaRPr lang="en-US" sz="1000" dirty="0"/>
          </a:p>
        </p:txBody>
      </p:sp>
      <p:sp>
        <p:nvSpPr>
          <p:cNvPr id="21" name="Shape 14"/>
          <p:cNvSpPr/>
          <p:nvPr/>
        </p:nvSpPr>
        <p:spPr>
          <a:xfrm>
            <a:off x="4846320" y="1051560"/>
            <a:ext cx="393192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2" name="Text 15"/>
          <p:cNvSpPr/>
          <p:nvPr/>
        </p:nvSpPr>
        <p:spPr>
          <a:xfrm>
            <a:off x="5074920" y="1143000"/>
            <a:ext cx="3474720" cy="320040"/>
          </a:xfrm>
          <a:prstGeom prst="rect">
            <a:avLst/>
          </a:prstGeom>
          <a:noFill/>
          <a:ln/>
        </p:spPr>
        <p:txBody>
          <a:bodyPr wrap="square" lIns="0" tIns="0" rIns="0" bIns="0" rtlCol="0" anchor="ctr"/>
          <a:lstStyle/>
          <a:p>
            <a:pPr marL="0" indent="0">
              <a:buNone/>
            </a:pPr>
            <a:r>
              <a:rPr lang="en-US" sz="1400" b="1" dirty="0">
                <a:solidFill>
                  <a:srgbClr val="2C4A2E"/>
                </a:solidFill>
                <a:latin typeface="Georgia" pitchFamily="34" charset="0"/>
                <a:ea typeface="Georgia" pitchFamily="34" charset="-122"/>
                <a:cs typeface="Georgia" pitchFamily="34" charset="-120"/>
              </a:rPr>
              <a:t>Implementation Phases</a:t>
            </a:r>
            <a:endParaRPr lang="en-US" sz="1400" dirty="0"/>
          </a:p>
        </p:txBody>
      </p:sp>
      <p:sp>
        <p:nvSpPr>
          <p:cNvPr id="23" name="Shape 16"/>
          <p:cNvSpPr/>
          <p:nvPr/>
        </p:nvSpPr>
        <p:spPr>
          <a:xfrm>
            <a:off x="5074920" y="1554480"/>
            <a:ext cx="320040" cy="594360"/>
          </a:xfrm>
          <a:prstGeom prst="rect">
            <a:avLst/>
          </a:prstGeom>
          <a:solidFill>
            <a:srgbClr val="4A7C59"/>
          </a:solidFill>
          <a:ln/>
        </p:spPr>
        <p:txBody>
          <a:bodyPr/>
          <a:lstStyle/>
          <a:p>
            <a:endParaRPr lang="en-US"/>
          </a:p>
        </p:txBody>
      </p:sp>
      <p:sp>
        <p:nvSpPr>
          <p:cNvPr id="24" name="Text 17"/>
          <p:cNvSpPr/>
          <p:nvPr/>
        </p:nvSpPr>
        <p:spPr>
          <a:xfrm>
            <a:off x="5074920" y="1554480"/>
            <a:ext cx="320040" cy="5943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25" name="Text 18"/>
          <p:cNvSpPr/>
          <p:nvPr/>
        </p:nvSpPr>
        <p:spPr>
          <a:xfrm>
            <a:off x="5532120" y="1572768"/>
            <a:ext cx="3017520" cy="274320"/>
          </a:xfrm>
          <a:prstGeom prst="rect">
            <a:avLst/>
          </a:prstGeom>
          <a:noFill/>
          <a:ln/>
        </p:spPr>
        <p:txBody>
          <a:bodyPr wrap="square" lIns="0" tIns="0" rIns="0" bIns="0" rtlCol="0" anchor="ctr"/>
          <a:lstStyle/>
          <a:p>
            <a:pPr marL="0" indent="0">
              <a:buNone/>
            </a:pPr>
            <a:r>
              <a:rPr lang="en-US" sz="1100" b="1" dirty="0">
                <a:solidFill>
                  <a:srgbClr val="2C4A2E"/>
                </a:solidFill>
                <a:latin typeface="Georgia" pitchFamily="34" charset="0"/>
                <a:ea typeface="Georgia" pitchFamily="34" charset="-122"/>
                <a:cs typeface="Georgia" pitchFamily="34" charset="-120"/>
              </a:rPr>
              <a:t>Phase 1 (Years 1–2)</a:t>
            </a:r>
            <a:endParaRPr lang="en-US" sz="1100" dirty="0"/>
          </a:p>
        </p:txBody>
      </p:sp>
      <p:sp>
        <p:nvSpPr>
          <p:cNvPr id="26" name="Text 19"/>
          <p:cNvSpPr/>
          <p:nvPr/>
        </p:nvSpPr>
        <p:spPr>
          <a:xfrm>
            <a:off x="5532120" y="1856232"/>
            <a:ext cx="3017520" cy="36576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High-traffic corridors linking tram stations to key buildings</a:t>
            </a:r>
            <a:endParaRPr lang="en-US" sz="1000" dirty="0"/>
          </a:p>
        </p:txBody>
      </p:sp>
      <p:sp>
        <p:nvSpPr>
          <p:cNvPr id="27" name="Shape 20"/>
          <p:cNvSpPr/>
          <p:nvPr/>
        </p:nvSpPr>
        <p:spPr>
          <a:xfrm>
            <a:off x="5074920" y="2304288"/>
            <a:ext cx="320040" cy="594360"/>
          </a:xfrm>
          <a:prstGeom prst="rect">
            <a:avLst/>
          </a:prstGeom>
          <a:solidFill>
            <a:srgbClr val="4A7C59"/>
          </a:solidFill>
          <a:ln/>
        </p:spPr>
        <p:txBody>
          <a:bodyPr/>
          <a:lstStyle/>
          <a:p>
            <a:endParaRPr lang="en-US"/>
          </a:p>
        </p:txBody>
      </p:sp>
      <p:sp>
        <p:nvSpPr>
          <p:cNvPr id="28" name="Text 21"/>
          <p:cNvSpPr/>
          <p:nvPr/>
        </p:nvSpPr>
        <p:spPr>
          <a:xfrm>
            <a:off x="5074920" y="2304288"/>
            <a:ext cx="320040" cy="5943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9" name="Text 22"/>
          <p:cNvSpPr/>
          <p:nvPr/>
        </p:nvSpPr>
        <p:spPr>
          <a:xfrm>
            <a:off x="5532120" y="2322576"/>
            <a:ext cx="3017520" cy="274320"/>
          </a:xfrm>
          <a:prstGeom prst="rect">
            <a:avLst/>
          </a:prstGeom>
          <a:noFill/>
          <a:ln/>
        </p:spPr>
        <p:txBody>
          <a:bodyPr wrap="square" lIns="0" tIns="0" rIns="0" bIns="0" rtlCol="0" anchor="ctr"/>
          <a:lstStyle/>
          <a:p>
            <a:pPr marL="0" indent="0">
              <a:buNone/>
            </a:pPr>
            <a:r>
              <a:rPr lang="en-US" sz="1100" b="1" dirty="0">
                <a:solidFill>
                  <a:srgbClr val="2C4A2E"/>
                </a:solidFill>
                <a:latin typeface="Georgia" pitchFamily="34" charset="0"/>
                <a:ea typeface="Georgia" pitchFamily="34" charset="-122"/>
                <a:cs typeface="Georgia" pitchFamily="34" charset="-120"/>
              </a:rPr>
              <a:t>Phase 2 (Years 2–4)</a:t>
            </a:r>
            <a:endParaRPr lang="en-US" sz="1100" dirty="0"/>
          </a:p>
        </p:txBody>
      </p:sp>
      <p:sp>
        <p:nvSpPr>
          <p:cNvPr id="30" name="Text 23"/>
          <p:cNvSpPr/>
          <p:nvPr/>
        </p:nvSpPr>
        <p:spPr>
          <a:xfrm>
            <a:off x="5532120" y="2606040"/>
            <a:ext cx="3017520" cy="36576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Expand to housing, parking areas, and Oxygen Park</a:t>
            </a:r>
            <a:endParaRPr lang="en-US" sz="1000" dirty="0"/>
          </a:p>
        </p:txBody>
      </p:sp>
      <p:sp>
        <p:nvSpPr>
          <p:cNvPr id="31" name="Shape 24"/>
          <p:cNvSpPr/>
          <p:nvPr/>
        </p:nvSpPr>
        <p:spPr>
          <a:xfrm>
            <a:off x="5074920" y="3054096"/>
            <a:ext cx="320040" cy="594360"/>
          </a:xfrm>
          <a:prstGeom prst="rect">
            <a:avLst/>
          </a:prstGeom>
          <a:solidFill>
            <a:srgbClr val="4A7C59"/>
          </a:solidFill>
          <a:ln/>
        </p:spPr>
        <p:txBody>
          <a:bodyPr/>
          <a:lstStyle/>
          <a:p>
            <a:endParaRPr lang="en-US"/>
          </a:p>
        </p:txBody>
      </p:sp>
      <p:sp>
        <p:nvSpPr>
          <p:cNvPr id="32" name="Text 25"/>
          <p:cNvSpPr/>
          <p:nvPr/>
        </p:nvSpPr>
        <p:spPr>
          <a:xfrm>
            <a:off x="5074920" y="3054096"/>
            <a:ext cx="320040" cy="5943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33" name="Text 26"/>
          <p:cNvSpPr/>
          <p:nvPr/>
        </p:nvSpPr>
        <p:spPr>
          <a:xfrm>
            <a:off x="5532120" y="3072384"/>
            <a:ext cx="3017520" cy="274320"/>
          </a:xfrm>
          <a:prstGeom prst="rect">
            <a:avLst/>
          </a:prstGeom>
          <a:noFill/>
          <a:ln/>
        </p:spPr>
        <p:txBody>
          <a:bodyPr wrap="square" lIns="0" tIns="0" rIns="0" bIns="0" rtlCol="0" anchor="ctr"/>
          <a:lstStyle/>
          <a:p>
            <a:pPr marL="0" indent="0">
              <a:buNone/>
            </a:pPr>
            <a:r>
              <a:rPr lang="en-US" sz="1100" b="1" dirty="0">
                <a:solidFill>
                  <a:srgbClr val="2C4A2E"/>
                </a:solidFill>
                <a:latin typeface="Georgia" pitchFamily="34" charset="0"/>
                <a:ea typeface="Georgia" pitchFamily="34" charset="-122"/>
                <a:cs typeface="Georgia" pitchFamily="34" charset="-120"/>
              </a:rPr>
              <a:t>Phase 3 (Years 4–6)</a:t>
            </a:r>
            <a:endParaRPr lang="en-US" sz="1100" dirty="0"/>
          </a:p>
        </p:txBody>
      </p:sp>
      <p:sp>
        <p:nvSpPr>
          <p:cNvPr id="34" name="Text 27"/>
          <p:cNvSpPr/>
          <p:nvPr/>
        </p:nvSpPr>
        <p:spPr>
          <a:xfrm>
            <a:off x="5532120" y="3355848"/>
            <a:ext cx="3017520" cy="36576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Achieve 60–70% campus-wide shade coverage</a:t>
            </a:r>
            <a:endParaRPr lang="en-US" sz="1000" dirty="0"/>
          </a:p>
        </p:txBody>
      </p:sp>
      <p:sp>
        <p:nvSpPr>
          <p:cNvPr id="35" name="Shape 28"/>
          <p:cNvSpPr/>
          <p:nvPr/>
        </p:nvSpPr>
        <p:spPr>
          <a:xfrm>
            <a:off x="4846320" y="3886200"/>
            <a:ext cx="3931920" cy="640080"/>
          </a:xfrm>
          <a:prstGeom prst="rect">
            <a:avLst/>
          </a:prstGeom>
          <a:solidFill>
            <a:srgbClr val="D4E6D4"/>
          </a:solidFill>
          <a:ln/>
        </p:spPr>
        <p:txBody>
          <a:bodyPr/>
          <a:lstStyle/>
          <a:p>
            <a:endParaRPr lang="en-US"/>
          </a:p>
        </p:txBody>
      </p:sp>
      <p:sp>
        <p:nvSpPr>
          <p:cNvPr id="36" name="Text 29"/>
          <p:cNvSpPr/>
          <p:nvPr/>
        </p:nvSpPr>
        <p:spPr>
          <a:xfrm>
            <a:off x="5029200" y="3913632"/>
            <a:ext cx="3566160" cy="594360"/>
          </a:xfrm>
          <a:prstGeom prst="rect">
            <a:avLst/>
          </a:prstGeom>
          <a:noFill/>
          <a:ln/>
        </p:spPr>
        <p:txBody>
          <a:bodyPr wrap="square" lIns="0" tIns="0" rIns="0" bIns="0" rtlCol="0" anchor="ctr"/>
          <a:lstStyle/>
          <a:p>
            <a:pPr marL="0" indent="0">
              <a:buNone/>
            </a:pPr>
            <a:r>
              <a:rPr lang="en-US" sz="1000" b="1" dirty="0">
                <a:solidFill>
                  <a:srgbClr val="2C4A2E"/>
                </a:solidFill>
                <a:latin typeface="Calibri" pitchFamily="34" charset="0"/>
                <a:ea typeface="Calibri" pitchFamily="34" charset="-122"/>
                <a:cs typeface="Calibri" pitchFamily="34" charset="-120"/>
              </a:rPr>
              <a:t>Aligns with QNV 2030: Environmental sustainability, human development, and 60–70% shade target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422"/>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marL="0" indent="0" algn="ctr">
              <a:buNone/>
            </a:pPr>
            <a:r>
              <a:rPr lang="en-US" sz="1800" dirty="0">
                <a:solidFill>
                  <a:srgbClr val="8FB996"/>
                </a:solidFill>
                <a:latin typeface="Georgia" pitchFamily="34" charset="0"/>
                <a:ea typeface="Georgia" pitchFamily="34" charset="-122"/>
                <a:cs typeface="Georgia" pitchFamily="34" charset="-120"/>
              </a:rPr>
              <a:t>OUR RESEARCH POSTER</a:t>
            </a:r>
            <a:endParaRPr lang="en-US" sz="1800" dirty="0"/>
          </a:p>
        </p:txBody>
      </p:sp>
      <p:pic>
        <p:nvPicPr>
          <p:cNvPr id="3" name="Image 0" descr="/home/claude/poster.png"/>
          <p:cNvPicPr>
            <a:picLocks noChangeAspect="1"/>
          </p:cNvPicPr>
          <p:nvPr/>
        </p:nvPicPr>
        <p:blipFill>
          <a:blip r:embed="rId3"/>
          <a:srcRect/>
          <a:stretch/>
        </p:blipFill>
        <p:spPr>
          <a:xfrm>
            <a:off x="2665827" y="594360"/>
            <a:ext cx="3812345" cy="4389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42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FB996"/>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114800" y="1188720"/>
            <a:ext cx="914400" cy="914400"/>
          </a:xfrm>
          <a:prstGeom prst="rect">
            <a:avLst/>
          </a:prstGeom>
        </p:spPr>
      </p:pic>
      <p:sp>
        <p:nvSpPr>
          <p:cNvPr id="4" name="Text 1"/>
          <p:cNvSpPr/>
          <p:nvPr/>
        </p:nvSpPr>
        <p:spPr>
          <a:xfrm>
            <a:off x="914400" y="2286000"/>
            <a:ext cx="7315200" cy="82296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5" name="Text 2"/>
          <p:cNvSpPr/>
          <p:nvPr/>
        </p:nvSpPr>
        <p:spPr>
          <a:xfrm>
            <a:off x="914400" y="3108960"/>
            <a:ext cx="7315200" cy="548640"/>
          </a:xfrm>
          <a:prstGeom prst="rect">
            <a:avLst/>
          </a:prstGeom>
          <a:noFill/>
          <a:ln/>
        </p:spPr>
        <p:txBody>
          <a:bodyPr wrap="square" rtlCol="0" anchor="ctr"/>
          <a:lstStyle/>
          <a:p>
            <a:pPr marL="0" indent="0" algn="ctr">
              <a:buNone/>
            </a:pPr>
            <a:r>
              <a:rPr lang="en-US" sz="2000" i="1" dirty="0">
                <a:solidFill>
                  <a:srgbClr val="8FB996"/>
                </a:solidFill>
                <a:latin typeface="Georgia" pitchFamily="34" charset="0"/>
                <a:ea typeface="Georgia" pitchFamily="34" charset="-122"/>
                <a:cs typeface="Georgia" pitchFamily="34" charset="-120"/>
              </a:rPr>
              <a:t>Questions?</a:t>
            </a:r>
            <a:endParaRPr lang="en-US" sz="2000" dirty="0"/>
          </a:p>
        </p:txBody>
      </p:sp>
      <p:sp>
        <p:nvSpPr>
          <p:cNvPr id="6" name="Shape 3"/>
          <p:cNvSpPr/>
          <p:nvPr/>
        </p:nvSpPr>
        <p:spPr>
          <a:xfrm>
            <a:off x="3200400" y="3840480"/>
            <a:ext cx="2743200" cy="0"/>
          </a:xfrm>
          <a:prstGeom prst="line">
            <a:avLst/>
          </a:prstGeom>
          <a:noFill/>
          <a:ln w="12700">
            <a:solidFill>
              <a:srgbClr val="8FB996"/>
            </a:solidFill>
            <a:prstDash val="solid"/>
          </a:ln>
        </p:spPr>
        <p:txBody>
          <a:bodyPr/>
          <a:lstStyle/>
          <a:p>
            <a:endParaRPr lang="en-US"/>
          </a:p>
        </p:txBody>
      </p:sp>
      <p:sp>
        <p:nvSpPr>
          <p:cNvPr id="7" name="Text 4"/>
          <p:cNvSpPr/>
          <p:nvPr/>
        </p:nvSpPr>
        <p:spPr>
          <a:xfrm>
            <a:off x="914400" y="4114800"/>
            <a:ext cx="7315200" cy="365760"/>
          </a:xfrm>
          <a:prstGeom prst="rect">
            <a:avLst/>
          </a:prstGeom>
          <a:noFill/>
          <a:ln/>
        </p:spPr>
        <p:txBody>
          <a:bodyPr wrap="square" rtlCol="0" anchor="ctr"/>
          <a:lstStyle/>
          <a:p>
            <a:pPr marL="0" indent="0" algn="ctr">
              <a:buNone/>
            </a:pPr>
            <a:r>
              <a:rPr lang="en-US" sz="1200" dirty="0">
                <a:solidFill>
                  <a:srgbClr val="E8E0D0"/>
                </a:solidFill>
                <a:latin typeface="Calibri" pitchFamily="34" charset="0"/>
                <a:ea typeface="Calibri" pitchFamily="34" charset="-122"/>
                <a:cs typeface="Calibri" pitchFamily="34" charset="-120"/>
              </a:rPr>
              <a:t>Team Cocktail  •  ENGL 220  •  Spring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1549</Words>
  <Application>Microsoft Office PowerPoint</Application>
  <PresentationFormat>On-screen Show (16:9)</PresentationFormat>
  <Paragraphs>131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Walkability in Education City</dc:title>
  <dc:subject>PptxGenJS Presentation</dc:subject>
  <dc:creator>Team Cocktail</dc:creator>
  <cp:lastModifiedBy>Youssef Abou Ali</cp:lastModifiedBy>
  <cp:revision>3</cp:revision>
  <dcterms:created xsi:type="dcterms:W3CDTF">2026-04-11T07:22:08Z</dcterms:created>
  <dcterms:modified xsi:type="dcterms:W3CDTF">2026-04-11T17:28:46Z</dcterms:modified>
</cp:coreProperties>
</file>